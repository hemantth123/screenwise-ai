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human cost: 200 resumes, 90 seconds each, 5 hours of pure reading per role.
 - Make the GCC angle explicit — those TA teams care most about quality and have the least time.
 - Quantify the revenue pain: roughly $7K/day per unfilled engineering role.
 - Frame success as minutes not hours, with explainable scores recruiters can defend.
 - End by foreshadowing the deck's differentiator: explainable AI, not another black-box ranker.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the 4-step flow: paste, parse, score on a 5-signal rubric, ranked dashboard + outreach.
 - Emphasize schema-constrained JSON — no free-text parsing, output is structured and predictable.
 - Compare BEFORE (5 hours of gut-feel screening) to AFTER (45 min with written reasoning per candidate).
 - Stress that the recruiter stays in control — ScreenWise never auto-rejects, only recommends.
 - Tie back to the differentiator: matched skills, missing skills, strengths, red flags in plain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the rubric: 40% skills, 25% experience, 15% seniority, 10% domain, 10% trajectory.
 - Stress that Strong Fit is rare by design — calibration line in the system prompt enforces honesty.
 - Give the validated numbers verbatim: 25 resumes, 3 JDs, 60% precision@10, 67% label agreement, 70% time saved.
 - Be honest about the gap: ranking quality is high, but the AI is too conservative with Strong Fit labels.
 - Close on the assumptions bar — text-only input, recruiter in the loop, outreach never auto-sent.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architecture top to bottom: UI → API route → text inputs → LLM (the highlighted box) → schema validation → ranked output.
 - Stress that one model does the whole pipeline — the hard part is forcing structured JSON output, not picking a model.
 - Reliability: schema-constrained outputs, confidence thresholds, human-in-the-loop, audit logs.
 - Bias mitigation: name-blind + university-blind options, calibration line, future bias-audit dashboard.
 - Cost: roughly $1-3 per 200 resumes via batching + caching, with embedding reuse on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Show the 3 screenshots left to right: input form, ranked dashboard, personalized outreach tab.
 - Call out the sample run: Strong Fit went to the 6-yr Node+Postgres+fintech engineer; the 4-jobs-in-4-years pattern surfaced as a red flag.
 - Mention the live prototype is at the / route and the GitHub repo link — both clickable in the deck export.
 - Stack: Next.js 16, TypeScript, Tailwind, shadcn/ui, framer-motion, z-ai-web-dev-sdk server-side. Stateless, no DB.
 - End on production security: GDPR, PII masking, RBAC, encryption at rest, audit logging.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 candid about the AI tools: Cursor + Claude for scaffolding, GPT-4-class model as the fitment engine — but the rubric and bias guardrails were hand-written.
 - Celebrate where AI helped most: 10x on the boring parts (API routes, types, components), freeing time for rubric and evaluation work.
 - Own the biggest challenge: calibration, not capability — the first prompt over-scored, the fix overcorrected to conservatism.
 - Restate the core bet: explainable AI beats black-box ranking because recruiters need defensible recommendations.
 - Close on the roadmap (bias-audit, PDF parsing, embeddings, feedback loop, ATS integration, dual-pass scoring) and the personal note about resisting over-building.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403622"/>
            <a:ext cx="8222456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229600" cy="26189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1 · PROBLEM UNDERSTANDING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9372"/>
            <a:ext cx="8636000" cy="73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2475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Recruiters are drowning in resumes —</a:t>
            </a:r>
            <a:endParaRPr lang="en-US" sz="2475" dirty="0"/>
          </a:p>
          <a:p>
            <a:pPr algn="l" indent="0" marL="0">
              <a:lnSpc>
                <a:spcPts val="2673"/>
              </a:lnSpc>
              <a:buNone/>
            </a:pPr>
            <a:r>
              <a:rPr lang="en-US" sz="2475" b="1" spc="-4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missing great candidates.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457200" y="145397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every open role, ~200 applicants. ~75% are unqualified — but finding the qualified 25% means reading every single line, by hand, at 90 seconds each.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60772" y="1946895"/>
            <a:ext cx="4064794" cy="894308"/>
          </a:xfrm>
          <a:prstGeom prst="roundRect">
            <a:avLst>
              <a:gd name="adj" fmla="val 1491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2064767"/>
            <a:ext cx="38004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2931" y="2214786"/>
            <a:ext cx="380047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Volume vs. bandwidth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592931" y="2434010"/>
            <a:ext cx="38004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200 resumes per role × 90 seconds each = ~5 hours of pure reading. By resume #40, judgment blurs — and the strongest candidate might be #180.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18434" y="1946895"/>
            <a:ext cx="4064794" cy="894308"/>
          </a:xfrm>
          <a:prstGeom prst="roundRect">
            <a:avLst>
              <a:gd name="adj" fmla="val 1491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0594" y="2064767"/>
            <a:ext cx="38004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IT HURTS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0594" y="2214786"/>
            <a:ext cx="391020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In-house TA teams hiring at volume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4750594" y="2434010"/>
            <a:ext cx="38004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Especially GCC talent-acquisition teams filling multiple roles simultaneously. The teams who care most about quality are also the most time-starved.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2934072"/>
            <a:ext cx="4064794" cy="1038969"/>
          </a:xfrm>
          <a:prstGeom prst="roundRect">
            <a:avLst>
              <a:gd name="adj" fmla="val 1283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3051944"/>
            <a:ext cx="38004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2931" y="3201963"/>
            <a:ext cx="380047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Time-to-hire = revenue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592931" y="3421187"/>
            <a:ext cx="3800475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unfilled engineering role costs ~$7K/day in lost output. The best candidates get missed — not because they weren't qualified, but because no one had bandwidth to read them carefully.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18434" y="2934072"/>
            <a:ext cx="4064794" cy="1038969"/>
          </a:xfrm>
          <a:prstGeom prst="roundRect">
            <a:avLst>
              <a:gd name="adj" fmla="val 1283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50594" y="3051944"/>
            <a:ext cx="38004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SUCCESS LOOKS LIKE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0594" y="3201963"/>
            <a:ext cx="380047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Minutes, not hours</a:t>
            </a:r>
            <a:endParaRPr lang="en-US" sz="1069" dirty="0"/>
          </a:p>
        </p:txBody>
      </p:sp>
      <p:sp>
        <p:nvSpPr>
          <p:cNvPr id="21" name="Text 19"/>
          <p:cNvSpPr/>
          <p:nvPr/>
        </p:nvSpPr>
        <p:spPr>
          <a:xfrm>
            <a:off x="4750594" y="3421187"/>
            <a:ext cx="3800475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 first-pass screening from hours to minutes per role. Surface the top 10% with explainable reasoning. Free recruiters to talk to candidates instead of reading about them.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105201"/>
            <a:ext cx="8229600" cy="348593"/>
          </a:xfrm>
          <a:prstGeom prst="roundRect">
            <a:avLst>
              <a:gd name="adj" fmla="val 3278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4108772"/>
            <a:ext cx="82296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3228" y="4105201"/>
            <a:ext cx="0" cy="348593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450221"/>
            <a:ext cx="82296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488" y="4105201"/>
            <a:ext cx="0" cy="348593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215" y="4188298"/>
            <a:ext cx="631061" cy="182398"/>
          </a:xfrm>
          <a:prstGeom prst="roundRect">
            <a:avLst>
              <a:gd name="adj" fmla="val 5216875"/>
            </a:avLst>
          </a:prstGeom>
          <a:solidFill>
            <a:srgbClr val="FFFFFF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0075" y="4198069"/>
            <a:ext cx="585341" cy="1628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spc="41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56854" y="4212022"/>
            <a:ext cx="7308503" cy="148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 AI — every score comes with matched skills, missing skills, and written reasoning. No black boxes.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346472"/>
            <a:ext cx="8336756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342900"/>
            <a:ext cx="8343900" cy="247602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2 · PRODUCT SOLUTION (1/2)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617934"/>
            <a:ext cx="8143875" cy="588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a JD and a batch of resumes. Get a ranked, explained shortlist in under a minute.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00050" y="1233636"/>
            <a:ext cx="814387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recruiter stays in control throughout — ScreenWise recommends with reasoning, never auto-rejects.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00050" y="15586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600075" y="1528316"/>
            <a:ext cx="380494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workflow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400050" y="1881932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1881932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1513" y="1874788"/>
            <a:ext cx="3920177" cy="123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JD + resumes</a:t>
            </a:r>
            <a:endParaRPr lang="en-US" sz="816" dirty="0"/>
          </a:p>
        </p:txBody>
      </p:sp>
      <p:sp>
        <p:nvSpPr>
          <p:cNvPr id="11" name="Text 9"/>
          <p:cNvSpPr/>
          <p:nvPr/>
        </p:nvSpPr>
        <p:spPr>
          <a:xfrm>
            <a:off x="671513" y="2025700"/>
            <a:ext cx="3733502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Recruiter pastes the job description and a batch of resumes (separated by --- ). No login, no setup.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0050" y="2416373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2416373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1513" y="2409230"/>
            <a:ext cx="3920177" cy="123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extracts the JD brief</a:t>
            </a:r>
            <a:endParaRPr lang="en-US" sz="816" dirty="0"/>
          </a:p>
        </p:txBody>
      </p:sp>
      <p:sp>
        <p:nvSpPr>
          <p:cNvPr id="15" name="Text 13"/>
          <p:cNvSpPr/>
          <p:nvPr/>
        </p:nvSpPr>
        <p:spPr>
          <a:xfrm>
            <a:off x="671513" y="2560141"/>
            <a:ext cx="3733502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Must-haves, nice-to-haves, seniority signals, and domain context — parsed into a structured rubric.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0050" y="2950815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0050" y="2950815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1513" y="2943671"/>
            <a:ext cx="3920177" cy="123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Score on a 5-signal rubric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671513" y="3094583"/>
            <a:ext cx="3733502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candidate gets a 0-100 fitment score with per-signal reasoning. Schema-constrained JSON output, not free text.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0050" y="3485257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0050" y="3485257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1513" y="3478113"/>
            <a:ext cx="4032183" cy="12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Ranked dashboard + outreach</a:t>
            </a:r>
            <a:endParaRPr lang="en-US" sz="816" dirty="0"/>
          </a:p>
        </p:txBody>
      </p:sp>
      <p:sp>
        <p:nvSpPr>
          <p:cNvPr id="23" name="Text 21"/>
          <p:cNvSpPr/>
          <p:nvPr/>
        </p:nvSpPr>
        <p:spPr>
          <a:xfrm>
            <a:off x="671513" y="3629025"/>
            <a:ext cx="3733502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Ranked cards with matched/missing skills, red flags, and a personalized outreach email per candidate — ready to copy.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6465" y="15586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25" name="Text 23"/>
          <p:cNvSpPr/>
          <p:nvPr/>
        </p:nvSpPr>
        <p:spPr>
          <a:xfrm>
            <a:off x="4776490" y="1528316"/>
            <a:ext cx="413879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journey: before vs. after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4576465" y="1817638"/>
            <a:ext cx="4338824" cy="1248370"/>
          </a:xfrm>
          <a:prstGeom prst="roundRect">
            <a:avLst>
              <a:gd name="adj" fmla="val 91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6465" y="1831925"/>
            <a:ext cx="4338824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11717" y="1817638"/>
            <a:ext cx="0" cy="124837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6465" y="3062436"/>
            <a:ext cx="433882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80037" y="1817638"/>
            <a:ext cx="0" cy="124837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2196" y="1946225"/>
            <a:ext cx="406736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2196" y="2081957"/>
            <a:ext cx="417708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Manual screening · ~5 hrs per role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12196" y="2267694"/>
            <a:ext cx="4067361" cy="73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200-resume ATS folder, read each (~90s each)</a:t>
            </a:r>
            <a:endParaRPr lang="en-US" sz="800" dirty="0"/>
          </a:p>
          <a:p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Flag ~30 maybes based on gut feel</a:t>
            </a:r>
            <a:endParaRPr lang="en-US" sz="800" dirty="0"/>
          </a:p>
          <a:p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Sync with hiring manager to debate the shortlist</a:t>
            </a:r>
            <a:endParaRPr lang="en-US" sz="800" dirty="0"/>
          </a:p>
          <a:p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Manually draft outreach — generic templates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6465" y="3137446"/>
            <a:ext cx="4338824" cy="1248370"/>
          </a:xfrm>
          <a:prstGeom prst="roundRect">
            <a:avLst>
              <a:gd name="adj" fmla="val 91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576465" y="3151733"/>
            <a:ext cx="4338824" cy="0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11717" y="3137446"/>
            <a:ext cx="0" cy="124837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6465" y="4382244"/>
            <a:ext cx="4338824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80037" y="3137446"/>
            <a:ext cx="0" cy="124837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2196" y="3266033"/>
            <a:ext cx="406736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12196" y="3401764"/>
            <a:ext cx="417708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ScreenWise-assisted · ~45 min per role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12196" y="3587502"/>
            <a:ext cx="4067361" cy="73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Paste JD + 200 resumes, click Run</a:t>
            </a:r>
            <a:endParaRPr lang="en-US" sz="800" dirty="0"/>
          </a:p>
          <a:p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 seconds later: ranked shortlist of top 15, each with written reasoning</a:t>
            </a:r>
            <a:endParaRPr lang="en-US" sz="800" dirty="0"/>
          </a:p>
          <a:p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red flags and strengths, adjust shortlist in one click</a:t>
            </a:r>
            <a:endParaRPr lang="en-US" sz="800" dirty="0"/>
          </a:p>
          <a:p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2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Copy personalized outreach drafts, send from own inbox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0050" y="4485829"/>
            <a:ext cx="8343900" cy="348593"/>
          </a:xfrm>
          <a:prstGeom prst="roundRect">
            <a:avLst>
              <a:gd name="adj" fmla="val 3278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00050" y="4489400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40378" y="4485829"/>
            <a:ext cx="0" cy="348593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0050" y="4830849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4338" y="4485829"/>
            <a:ext cx="0" cy="348593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0065" y="4568926"/>
            <a:ext cx="1031446" cy="182398"/>
          </a:xfrm>
          <a:prstGeom prst="roundRect">
            <a:avLst>
              <a:gd name="adj" fmla="val 5216875"/>
            </a:avLst>
          </a:prstGeom>
          <a:solidFill>
            <a:srgbClr val="FFFFFF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2925" y="4578697"/>
            <a:ext cx="985726" cy="1628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spc="41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 AI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600088" y="4592650"/>
            <a:ext cx="7022418" cy="148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ranked candidate comes with matched skills, missing skills, key strengths, and red flags — written in plain English.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346472"/>
            <a:ext cx="8336756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342900"/>
            <a:ext cx="8343900" cy="233315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 2 · PRODUCT SOLUTION (2/2) · VALIDATED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603647"/>
            <a:ext cx="8143875" cy="573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5-signal rubric, calibrated scoring, and metrics from a real experiment.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00050" y="1205061"/>
            <a:ext cx="81438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ran 25 resumes × 3 job descriptions through ScreenWise and compared AI rankings against manually-defined ground truth. These are the actual results.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00050" y="166047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7" name="Text 5"/>
          <p:cNvSpPr/>
          <p:nvPr/>
        </p:nvSpPr>
        <p:spPr>
          <a:xfrm>
            <a:off x="592931" y="1637258"/>
            <a:ext cx="381208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5-signal fitment rubric</a:t>
            </a:r>
            <a:endParaRPr lang="en-US" sz="956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0050" y="1876574"/>
          <a:ext cx="4004965" cy="914400"/>
        </p:xfrm>
        <a:graphic>
          <a:graphicData uri="http://schemas.openxmlformats.org/drawingml/2006/table">
            <a:tbl>
              <a:tblPr/>
              <a:tblGrid>
                <a:gridCol w="1230399"/>
                <a:gridCol w="540358"/>
                <a:gridCol w="22270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Dimension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Weight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it measures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Skills Match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Direct overlap with required + nice-to-have skills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Experience Relevance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Domain, project type, and scope relevance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Seniority Alignment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Years and scope vs JD expectations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Domain Context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Industry exposure (fintech, B2B, e-commerce)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Career Trajectory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Progression pattern and tenure stability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03622" y="3771454"/>
            <a:ext cx="3997821" cy="480640"/>
          </a:xfrm>
          <a:prstGeom prst="roundRect">
            <a:avLst>
              <a:gd name="adj" fmla="val 17836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0050" y="3767882"/>
            <a:ext cx="4004965" cy="651510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spc="45" kern="0" dirty="0">
                <a:solidFill>
                  <a:srgbClr val="9240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CALIBRATION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Strong Fit (≥80) is intentionally RARE. Most candidates land in Possible Fit (60-79) or Pass (&lt;60). The first prompt over-scored everyone — the fix was an explicit calibration line in the system prompt.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47890" y="166047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336" dirty="0"/>
          </a:p>
        </p:txBody>
      </p:sp>
      <p:sp>
        <p:nvSpPr>
          <p:cNvPr id="12" name="Text 9"/>
          <p:cNvSpPr/>
          <p:nvPr/>
        </p:nvSpPr>
        <p:spPr>
          <a:xfrm>
            <a:off x="4740771" y="1637258"/>
            <a:ext cx="414594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 metrics</a:t>
            </a:r>
            <a:endParaRPr lang="en-US" sz="956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47890" y="1876574"/>
          <a:ext cx="4338824" cy="914400"/>
        </p:xfrm>
        <a:graphic>
          <a:graphicData uri="http://schemas.openxmlformats.org/drawingml/2006/table">
            <a:tbl>
              <a:tblPr/>
              <a:tblGrid>
                <a:gridCol w="3688742"/>
                <a:gridCol w="64293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Metric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Result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 resumes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Job descriptions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Precision @10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Label agreement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Screening time saved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51462" y="3449985"/>
            <a:ext cx="4331680" cy="595610"/>
          </a:xfrm>
          <a:prstGeom prst="roundRect">
            <a:avLst>
              <a:gd name="adj" fmla="val 1439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547890" y="3446413"/>
            <a:ext cx="4338824" cy="632472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>
            <a:normAutofit/>
          </a:bodyPr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spc="45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25 resumes (5 per archetype: backend, frontend, data, PM, mobile) × 3 JDs = 75 evaluations. Ground truth labeled manually by archetype match. Precision@10 = relevant candidates in AI's top-10. Label agreement = AI recommendation (Strong/Possible/Pass) matches ground truth.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551462" y="4109889"/>
            <a:ext cx="4331680" cy="480640"/>
          </a:xfrm>
          <a:prstGeom prst="roundRect">
            <a:avLst>
              <a:gd name="adj" fmla="val 17836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47890" y="4106317"/>
            <a:ext cx="4338824" cy="651510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spc="45" kern="0" dirty="0">
                <a:solidFill>
                  <a:srgbClr val="9240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HONEST FINDING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AI correctly RANKS the right candidates at the top (ranking quality is high) but is too CONSERVATIVE with Strong Fit labels — the calibration line overcorrected. This is the #1 fix for v1.1.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03622" y="4683398"/>
            <a:ext cx="8336756" cy="296466"/>
          </a:xfrm>
          <a:prstGeom prst="roundRect">
            <a:avLst>
              <a:gd name="adj" fmla="val 3212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07206" y="4778053"/>
            <a:ext cx="844649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ASSUMPTIONS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243124" y="4747692"/>
            <a:ext cx="1844204" cy="167878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1239552" y="4744120"/>
            <a:ext cx="1879922" cy="175022"/>
          </a:xfrm>
          <a:prstGeom prst="rect">
            <a:avLst/>
          </a:prstGeom>
          <a:noFill/>
          <a:ln/>
        </p:spPr>
        <p:txBody>
          <a:bodyPr wrap="none" lIns="64294" tIns="21431" rIns="64294" bIns="21431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Resumes as text (paste or ATS export)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148050" y="4770016"/>
            <a:ext cx="91440" cy="14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08459" y="4733618"/>
            <a:ext cx="1157913" cy="196025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231319" y="4744120"/>
            <a:ext cx="1140768" cy="175022"/>
          </a:xfrm>
          <a:prstGeom prst="rect">
            <a:avLst/>
          </a:prstGeom>
          <a:noFill/>
          <a:ln/>
        </p:spPr>
        <p:txBody>
          <a:bodyPr wrap="none" lIns="64294" tIns="21431" rIns="64294" bIns="21431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recruiter per role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400662" y="4770016"/>
            <a:ext cx="91440" cy="14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461071" y="4733618"/>
            <a:ext cx="1102772" cy="196025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483931" y="4744120"/>
            <a:ext cx="1085627" cy="175022"/>
          </a:xfrm>
          <a:prstGeom prst="rect">
            <a:avLst/>
          </a:prstGeom>
          <a:noFill/>
          <a:ln/>
        </p:spPr>
        <p:txBody>
          <a:bodyPr wrap="none" lIns="64294" tIns="21431" rIns="64294" bIns="21431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JD has ≥1 paragraph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598133" y="4770016"/>
            <a:ext cx="91440" cy="14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684974" y="4747692"/>
            <a:ext cx="1664159" cy="167878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681402" y="4744120"/>
            <a:ext cx="2962535" cy="175022"/>
          </a:xfrm>
          <a:prstGeom prst="rect">
            <a:avLst/>
          </a:prstGeom>
          <a:noFill/>
          <a:ln/>
        </p:spPr>
        <p:txBody>
          <a:bodyPr wrap="none" lIns="64294" tIns="21431" rIns="64294" bIns="21431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Outreach drafted, never auto-sent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00050" y="5026298"/>
            <a:ext cx="8343900" cy="282290"/>
          </a:xfrm>
          <a:prstGeom prst="roundRect">
            <a:avLst>
              <a:gd name="adj" fmla="val 3374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8"/>
          <p:cNvSpPr/>
          <p:nvPr/>
        </p:nvSpPr>
        <p:spPr>
          <a:xfrm>
            <a:off x="400050" y="5029870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740378" y="5026298"/>
            <a:ext cx="0" cy="28229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00050" y="5305016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14338" y="5026298"/>
            <a:ext cx="0" cy="282290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5778" y="5081369"/>
            <a:ext cx="995727" cy="172147"/>
          </a:xfrm>
          <a:prstGeom prst="roundRect">
            <a:avLst>
              <a:gd name="adj" fmla="val 5527529"/>
            </a:avLst>
          </a:prstGeom>
          <a:solidFill>
            <a:srgbClr val="FFFFFF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28638" y="5090592"/>
            <a:ext cx="95000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b="1" spc="3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 AI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550082" y="5109567"/>
            <a:ext cx="7086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rubric is transparent, the weights are public, and every score traceable to 5 signals — auditable end-to-end.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346472"/>
            <a:ext cx="8336756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342900"/>
            <a:ext cx="83439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3 · AI 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603647"/>
            <a:ext cx="8143875" cy="573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Schema-constrained LLM pipeline with bias guardrails and a human in the loop.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00050" y="1205061"/>
            <a:ext cx="814387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model does the whole pipeline. The hard part isn't picking a model — it's forcing structured output and calibrating honesty.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00050" y="149438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336" dirty="0"/>
          </a:p>
        </p:txBody>
      </p:sp>
      <p:sp>
        <p:nvSpPr>
          <p:cNvPr id="7" name="Text 5"/>
          <p:cNvSpPr/>
          <p:nvPr/>
        </p:nvSpPr>
        <p:spPr>
          <a:xfrm>
            <a:off x="592931" y="1471166"/>
            <a:ext cx="33114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-1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400050" y="1724769"/>
            <a:ext cx="3504344" cy="337877"/>
          </a:xfrm>
          <a:prstGeom prst="roundRect">
            <a:avLst>
              <a:gd name="adj" fmla="val 2819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1728341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00822" y="1724769"/>
            <a:ext cx="0" cy="33787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050" y="2059074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4338" y="1724769"/>
            <a:ext cx="0" cy="337877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638" y="18222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757238" y="1789063"/>
            <a:ext cx="144032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Recruiter UI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7238" y="1896219"/>
            <a:ext cx="1327264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 + React + shadcn/ui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0050" y="2084077"/>
            <a:ext cx="35043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00050" y="2234096"/>
            <a:ext cx="3504344" cy="337877"/>
          </a:xfrm>
          <a:prstGeom prst="roundRect">
            <a:avLst>
              <a:gd name="adj" fmla="val 281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2237668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0822" y="2234096"/>
            <a:ext cx="0" cy="33787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" y="2568401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4338" y="2234096"/>
            <a:ext cx="0" cy="337877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638" y="23315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757238" y="2298390"/>
            <a:ext cx="167155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API Route (/api/screen)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7238" y="2405546"/>
            <a:ext cx="1671557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Server-side, Node runtime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0050" y="2593404"/>
            <a:ext cx="35043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00050" y="2743423"/>
            <a:ext cx="3504344" cy="337877"/>
          </a:xfrm>
          <a:prstGeom prst="roundRect">
            <a:avLst>
              <a:gd name="adj" fmla="val 281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00050" y="2746995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00822" y="2743423"/>
            <a:ext cx="0" cy="33787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" y="3077728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4338" y="2743423"/>
            <a:ext cx="0" cy="337877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638" y="28408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757238" y="2807717"/>
            <a:ext cx="15045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Resume text + JD text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7238" y="2914873"/>
            <a:ext cx="1386455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Paste input (PDF parsing = v1.1)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0050" y="3102732"/>
            <a:ext cx="35043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407194" y="3259894"/>
            <a:ext cx="3490057" cy="337877"/>
          </a:xfrm>
          <a:prstGeom prst="roundRect">
            <a:avLst>
              <a:gd name="adj" fmla="val 28191"/>
            </a:avLst>
          </a:prstGeom>
          <a:solidFill>
            <a:srgbClr val="ECFDF5"/>
          </a:solidFill>
          <a:ln w="14288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19050" dir="5400000">
              <a:srgbClr val="059669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4350" y="33573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742950" y="3324188"/>
            <a:ext cx="202513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GPT-4-class LLM via z-ai-web-dev-sdk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2950" y="3431344"/>
            <a:ext cx="2025133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Schema-constrained JSON output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0050" y="3626346"/>
            <a:ext cx="35043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400050" y="3776365"/>
            <a:ext cx="3504344" cy="337877"/>
          </a:xfrm>
          <a:prstGeom prst="roundRect">
            <a:avLst>
              <a:gd name="adj" fmla="val 28191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00050" y="3779937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00822" y="3776365"/>
            <a:ext cx="0" cy="33787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0050" y="4110670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4338" y="3776365"/>
            <a:ext cx="0" cy="337877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638" y="387381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46" name="Text 44"/>
          <p:cNvSpPr/>
          <p:nvPr/>
        </p:nvSpPr>
        <p:spPr>
          <a:xfrm>
            <a:off x="757238" y="3840659"/>
            <a:ext cx="14462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JSON Schema Validation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7238" y="3947815"/>
            <a:ext cx="1393672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Parsing failures caught, not silent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0050" y="4135673"/>
            <a:ext cx="350434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49" name="Text 47"/>
          <p:cNvSpPr/>
          <p:nvPr/>
        </p:nvSpPr>
        <p:spPr>
          <a:xfrm>
            <a:off x="400050" y="4285692"/>
            <a:ext cx="3504344" cy="337877"/>
          </a:xfrm>
          <a:prstGeom prst="roundRect">
            <a:avLst>
              <a:gd name="adj" fmla="val 2819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00050" y="4289264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0822" y="4285692"/>
            <a:ext cx="0" cy="33787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0050" y="4619997"/>
            <a:ext cx="3504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4338" y="4285692"/>
            <a:ext cx="0" cy="337877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8638" y="438313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406" dirty="0"/>
          </a:p>
        </p:txBody>
      </p:sp>
      <p:sp>
        <p:nvSpPr>
          <p:cNvPr id="55" name="Text 53"/>
          <p:cNvSpPr/>
          <p:nvPr/>
        </p:nvSpPr>
        <p:spPr>
          <a:xfrm>
            <a:off x="757238" y="4349986"/>
            <a:ext cx="202718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Ranked candidates + outreach drafts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57238" y="4457142"/>
            <a:ext cx="2027182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per-signal reasoning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0050" y="4680719"/>
            <a:ext cx="3504344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v1.1 adds: PDF parsing → Embeddings → Vector store for semantic skill matching (so "TS" matches "TypeScript").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047269" y="1471166"/>
            <a:ext cx="4839444" cy="1080269"/>
          </a:xfrm>
          <a:prstGeom prst="roundRect">
            <a:avLst>
              <a:gd name="adj" fmla="val 9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4047269" y="1485454"/>
            <a:ext cx="4839444" cy="0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83142" y="1471166"/>
            <a:ext cx="0" cy="108026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47269" y="2547863"/>
            <a:ext cx="48394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50841" y="1471166"/>
            <a:ext cx="0" cy="108026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54425" y="1588145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4" name="Text 62"/>
          <p:cNvSpPr/>
          <p:nvPr/>
        </p:nvSpPr>
        <p:spPr>
          <a:xfrm>
            <a:off x="4325875" y="1571179"/>
            <a:ext cx="4453682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</a:t>
            </a:r>
            <a:endParaRPr lang="en-US" sz="816" dirty="0"/>
          </a:p>
        </p:txBody>
      </p:sp>
      <p:sp>
        <p:nvSpPr>
          <p:cNvPr id="65" name="Text 63"/>
          <p:cNvSpPr/>
          <p:nvPr/>
        </p:nvSpPr>
        <p:spPr>
          <a:xfrm>
            <a:off x="4154425" y="1769418"/>
            <a:ext cx="4625132" cy="728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Schema-constrained structured outputs — JSON schema enforced, no free-text parsing</a:t>
            </a:r>
            <a:endParaRPr lang="en-US" sz="800" dirty="0"/>
          </a:p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Confidence thresholds — Strong Fit (≥80) is rare by design; borderline scores (60-79) flagged for human review</a:t>
            </a:r>
            <a:endParaRPr lang="en-US" sz="800" dirty="0"/>
          </a:p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Human-in-the-loop — ScreenWise recommends, the recruiter decides. No auto-reject.</a:t>
            </a:r>
            <a:endParaRPr lang="en-US" sz="800" dirty="0"/>
          </a:p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logs — every score, reasoning, and recruiter override recorded for review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047269" y="2622872"/>
            <a:ext cx="4839444" cy="965299"/>
          </a:xfrm>
          <a:prstGeom prst="roundRect">
            <a:avLst>
              <a:gd name="adj" fmla="val 1085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4047269" y="2637160"/>
            <a:ext cx="4839444" cy="0"/>
          </a:xfrm>
          <a:prstGeom prst="line">
            <a:avLst/>
          </a:prstGeom>
          <a:noFill/>
          <a:ln w="28575">
            <a:solidFill>
              <a:srgbClr val="FDE6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83142" y="2622872"/>
            <a:ext cx="0" cy="965299"/>
          </a:xfrm>
          <a:prstGeom prst="line">
            <a:avLst/>
          </a:prstGeom>
          <a:noFill/>
          <a:ln w="7144">
            <a:solidFill>
              <a:srgbClr val="FDE68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47269" y="3584600"/>
            <a:ext cx="4839444" cy="0"/>
          </a:xfrm>
          <a:prstGeom prst="line">
            <a:avLst/>
          </a:prstGeom>
          <a:noFill/>
          <a:ln w="7144">
            <a:solidFill>
              <a:srgbClr val="FDE6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050841" y="2622872"/>
            <a:ext cx="0" cy="965299"/>
          </a:xfrm>
          <a:prstGeom prst="line">
            <a:avLst/>
          </a:prstGeom>
          <a:noFill/>
          <a:ln w="7144">
            <a:solidFill>
              <a:srgbClr val="FDE6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54425" y="273985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95" dirty="0"/>
          </a:p>
        </p:txBody>
      </p:sp>
      <p:sp>
        <p:nvSpPr>
          <p:cNvPr id="72" name="Text 70"/>
          <p:cNvSpPr/>
          <p:nvPr/>
        </p:nvSpPr>
        <p:spPr>
          <a:xfrm>
            <a:off x="4325875" y="2722885"/>
            <a:ext cx="4453682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Bias mitigation</a:t>
            </a:r>
            <a:endParaRPr lang="en-US" sz="816" dirty="0"/>
          </a:p>
        </p:txBody>
      </p:sp>
      <p:sp>
        <p:nvSpPr>
          <p:cNvPr id="73" name="Text 71"/>
          <p:cNvSpPr/>
          <p:nvPr/>
        </p:nvSpPr>
        <p:spPr>
          <a:xfrm>
            <a:off x="4154425" y="2921124"/>
            <a:ext cx="4625132" cy="60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78350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Name-blind scoring option — demographic signals stripped before evaluation</a:t>
            </a:r>
            <a:endParaRPr lang="en-US" sz="800" dirty="0"/>
          </a:p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78350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University-blind scoring option — prestige bias removed from trajectory assessment</a:t>
            </a:r>
            <a:endParaRPr lang="en-US" sz="800" dirty="0"/>
          </a:p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78350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Calibration line in system prompt — explicit instruction to judge on skills, scope, trajectory ONLY</a:t>
            </a:r>
            <a:endParaRPr lang="en-US" sz="800" dirty="0"/>
          </a:p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78350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Future: bias-audit dashboard tracking score distributions across demographic proxies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047269" y="3659609"/>
            <a:ext cx="4839444" cy="978917"/>
          </a:xfrm>
          <a:prstGeom prst="roundRect">
            <a:avLst>
              <a:gd name="adj" fmla="val 1070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4047269" y="3673897"/>
            <a:ext cx="4839444" cy="0"/>
          </a:xfrm>
          <a:prstGeom prst="line">
            <a:avLst/>
          </a:prstGeom>
          <a:noFill/>
          <a:ln w="28575">
            <a:solidFill>
              <a:srgbClr val="A7F3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83142" y="3659609"/>
            <a:ext cx="0" cy="978917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47269" y="4634954"/>
            <a:ext cx="4839444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50841" y="3659609"/>
            <a:ext cx="0" cy="978917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54425" y="377658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195" dirty="0"/>
          </a:p>
        </p:txBody>
      </p:sp>
      <p:sp>
        <p:nvSpPr>
          <p:cNvPr id="80" name="Text 78"/>
          <p:cNvSpPr/>
          <p:nvPr/>
        </p:nvSpPr>
        <p:spPr>
          <a:xfrm>
            <a:off x="4325875" y="3759622"/>
            <a:ext cx="4453682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awareness</a:t>
            </a:r>
            <a:endParaRPr lang="en-US" sz="816" dirty="0"/>
          </a:p>
        </p:txBody>
      </p:sp>
      <p:sp>
        <p:nvSpPr>
          <p:cNvPr id="81" name="Text 79"/>
          <p:cNvSpPr/>
          <p:nvPr/>
        </p:nvSpPr>
        <p:spPr>
          <a:xfrm>
            <a:off x="4154425" y="3957861"/>
            <a:ext cx="4734860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~$1-3 per 200 resumes (LLM scoring).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154425" y="4115023"/>
            <a:ext cx="4625132" cy="45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processing — 8-10 resumes per API call amortizes the JD context</a:t>
            </a:r>
            <a:endParaRPr lang="en-US" sz="800" dirty="0"/>
          </a:p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caching — identical (JD, resume) pairs served from cache</a:t>
            </a:r>
            <a:endParaRPr lang="en-US" sz="800" dirty="0"/>
          </a:p>
          <a:p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Future: embedding reuse — semantic skill matching without re-calling the LLM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00050" y="4933429"/>
            <a:ext cx="8343900" cy="286420"/>
          </a:xfrm>
          <a:prstGeom prst="roundRect">
            <a:avLst>
              <a:gd name="adj" fmla="val 3990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400050" y="4937001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40378" y="4933429"/>
            <a:ext cx="0" cy="28642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0050" y="5216277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4338" y="4933429"/>
            <a:ext cx="0" cy="286420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5778" y="4988253"/>
            <a:ext cx="995727" cy="176772"/>
          </a:xfrm>
          <a:prstGeom prst="roundRect">
            <a:avLst>
              <a:gd name="adj" fmla="val 5382908"/>
            </a:avLst>
          </a:prstGeom>
          <a:solidFill>
            <a:srgbClr val="FFFFFF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528638" y="4997723"/>
            <a:ext cx="950007" cy="1457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b="1" spc="39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 AI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1550082" y="5011675"/>
            <a:ext cx="7086712" cy="131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Schema-constrained outputs + per-signal reasoning + audit logs = a pipeline you can defend to a hiring manager.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346472"/>
            <a:ext cx="8336756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342900"/>
            <a:ext cx="83439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4 · PROTOTYPE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589359"/>
            <a:ext cx="8143875" cy="294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in ~5 hours. End-to-end working. Try it live.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00050" y="911498"/>
            <a:ext cx="8143875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kept the UI utilitarian on purpose — the assignment values execution over polish, so I spent the hours on AI calibration and validated metrics, not animations.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3622" y="1164543"/>
            <a:ext cx="2716969" cy="143768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8631" y="1239552"/>
            <a:ext cx="25669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37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INPUT —</a:t>
            </a:r>
            <a:pPr algn="l" indent="0" marL="0">
              <a:lnSpc>
                <a:spcPts val="802"/>
              </a:lnSpc>
              <a:buNone/>
            </a:pPr>
            <a:r>
              <a:rPr lang="en-US" sz="800" b="1" spc="37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JD + RESUMES</a:t>
            </a:r>
            <a:endParaRPr lang="en-US" sz="800" dirty="0"/>
          </a:p>
        </p:txBody>
      </p:sp>
      <p:pic>
        <p:nvPicPr>
          <p:cNvPr id="8" name="Image 0" descr="/tmp/h2p-fit-1782017089947-5emf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631" y="1384213"/>
            <a:ext cx="2566950" cy="1143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13460" y="1164543"/>
            <a:ext cx="2716969" cy="143768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288469" y="1239552"/>
            <a:ext cx="26766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37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RANKED RESULTS —</a:t>
            </a:r>
            <a:pPr algn="l" indent="0" marL="0">
              <a:lnSpc>
                <a:spcPts val="802"/>
              </a:lnSpc>
              <a:buNone/>
            </a:pPr>
            <a:r>
              <a:rPr lang="en-US" sz="800" b="1" spc="37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EXPLAINED SCORES</a:t>
            </a:r>
            <a:endParaRPr lang="en-US" sz="800" dirty="0"/>
          </a:p>
        </p:txBody>
      </p:sp>
      <p:pic>
        <p:nvPicPr>
          <p:cNvPr id="11" name="Image 1" descr="/tmp/h2p-fit-1782017089946-bgs6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469" y="1384213"/>
            <a:ext cx="2566950" cy="1143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23297" y="1164543"/>
            <a:ext cx="2717081" cy="143768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098307" y="1239552"/>
            <a:ext cx="26767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37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OUTREACH —</a:t>
            </a:r>
            <a:pPr algn="l" indent="0" marL="0">
              <a:lnSpc>
                <a:spcPts val="802"/>
              </a:lnSpc>
              <a:buNone/>
            </a:pPr>
            <a:r>
              <a:rPr lang="en-US" sz="800" b="1" spc="37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PERSONALIZED PER CANDIDATE</a:t>
            </a:r>
            <a:endParaRPr lang="en-US" sz="800" dirty="0"/>
          </a:p>
        </p:txBody>
      </p:sp>
      <p:pic>
        <p:nvPicPr>
          <p:cNvPr id="14" name="Image 2" descr="/tmp/h2p-fit-1782017089947-egrfmj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07" y="1384213"/>
            <a:ext cx="2567062" cy="1143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0050" y="2662944"/>
            <a:ext cx="8343900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Sample run: Senior Backend Engineer JD (fintech) + 5 candidate resumes. AI correctly flagged the 6-yr Node.js+Postgres+fintech engineer as Strong Fit, and surfaced the 4-jobs-in-4-years pattern as a red flag on another.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00050" y="29859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266" dirty="0"/>
          </a:p>
        </p:txBody>
      </p:sp>
      <p:sp>
        <p:nvSpPr>
          <p:cNvPr id="17" name="Text 12"/>
          <p:cNvSpPr/>
          <p:nvPr/>
        </p:nvSpPr>
        <p:spPr>
          <a:xfrm>
            <a:off x="578644" y="2972581"/>
            <a:ext cx="3950494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 it</a:t>
            </a:r>
            <a:endParaRPr lang="en-US" sz="816" dirty="0"/>
          </a:p>
        </p:txBody>
      </p:sp>
      <p:sp>
        <p:nvSpPr>
          <p:cNvPr id="18" name="Text 13"/>
          <p:cNvSpPr/>
          <p:nvPr/>
        </p:nvSpPr>
        <p:spPr>
          <a:xfrm>
            <a:off x="400050" y="3170820"/>
            <a:ext cx="4129088" cy="603647"/>
          </a:xfrm>
          <a:prstGeom prst="roundRect">
            <a:avLst>
              <a:gd name="adj" fmla="val 1893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400050" y="3174392"/>
            <a:ext cx="4129088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25566" y="3170820"/>
            <a:ext cx="0" cy="603647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00050" y="3770895"/>
            <a:ext cx="4129088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4338" y="3170820"/>
            <a:ext cx="0" cy="603647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8638" y="330208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24" name="Text 19"/>
          <p:cNvSpPr/>
          <p:nvPr/>
        </p:nvSpPr>
        <p:spPr>
          <a:xfrm>
            <a:off x="700088" y="3292264"/>
            <a:ext cx="9648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prototype: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529097" y="3292264"/>
            <a:ext cx="28928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u="sng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screen-wise.vercel.app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28638" y="3472644"/>
            <a:ext cx="3893344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28638" y="352890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8" name="Text 23"/>
          <p:cNvSpPr/>
          <p:nvPr/>
        </p:nvSpPr>
        <p:spPr>
          <a:xfrm>
            <a:off x="700088" y="3519078"/>
            <a:ext cx="80688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repo: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1402742" y="3519078"/>
            <a:ext cx="301923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u="sng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github.com/Hemantth123/screenwise-AI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614863" y="29859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6"/>
          <p:cNvSpPr/>
          <p:nvPr/>
        </p:nvSpPr>
        <p:spPr>
          <a:xfrm>
            <a:off x="4793456" y="2972581"/>
            <a:ext cx="3950494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spc="-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Stack</a:t>
            </a:r>
            <a:endParaRPr lang="en-US" sz="816" dirty="0"/>
          </a:p>
        </p:txBody>
      </p:sp>
      <p:sp>
        <p:nvSpPr>
          <p:cNvPr id="32" name="Text 27"/>
          <p:cNvSpPr/>
          <p:nvPr/>
        </p:nvSpPr>
        <p:spPr>
          <a:xfrm>
            <a:off x="4618434" y="3174392"/>
            <a:ext cx="4121944" cy="776883"/>
          </a:xfrm>
          <a:prstGeom prst="roundRect">
            <a:avLst>
              <a:gd name="adj" fmla="val 1716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722019" y="3263689"/>
            <a:ext cx="3914775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16 (App Router) · TypeScript · Tailwind CSS · shadcn/ui · framer-motion · z-ai-web-dev-sdk (server-side, Node runtime). No database — stateless prototype. No external services beyond the LLM.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699784" y="3682134"/>
            <a:ext cx="600343" cy="190024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722019" y="3692314"/>
            <a:ext cx="573732" cy="169664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5290751" y="3682134"/>
            <a:ext cx="620792" cy="190024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5313611" y="3692314"/>
            <a:ext cx="592931" cy="169664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905430" y="3682134"/>
            <a:ext cx="512220" cy="190024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5924401" y="3692314"/>
            <a:ext cx="492137" cy="169664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Tailwind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6412985" y="3682134"/>
            <a:ext cx="578162" cy="190024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434398" y="3692314"/>
            <a:ext cx="553194" cy="169664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shadcn/ui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6982591" y="3682134"/>
            <a:ext cx="788000" cy="190024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7005451" y="3692314"/>
            <a:ext cx="760140" cy="169664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framer-motion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7760590" y="3682134"/>
            <a:ext cx="894375" cy="190024"/>
          </a:xfrm>
          <a:prstGeom prst="rect">
            <a:avLst/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7783450" y="3692314"/>
            <a:ext cx="848655" cy="169664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z-ai-web-dev-sdk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403622" y="4015569"/>
            <a:ext cx="8336756" cy="231391"/>
          </a:xfrm>
          <a:prstGeom prst="roundRect">
            <a:avLst>
              <a:gd name="adj" fmla="val 3704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400050" y="4011997"/>
            <a:ext cx="8343900" cy="268252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b="1" spc="43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SECURITY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GDPR-compliant data handling · PII masking before LLM call · role-based access control · resume encryption at rest · audit logging of every screening decision.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400050" y="4307681"/>
            <a:ext cx="8343900" cy="407194"/>
          </a:xfrm>
          <a:prstGeom prst="roundRect">
            <a:avLst>
              <a:gd name="adj" fmla="val 2807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4"/>
          <p:cNvSpPr/>
          <p:nvPr/>
        </p:nvSpPr>
        <p:spPr>
          <a:xfrm>
            <a:off x="400050" y="4311253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740378" y="4307681"/>
            <a:ext cx="0" cy="407194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00050" y="4711303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414338" y="4307681"/>
            <a:ext cx="0" cy="407194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20065" y="4425649"/>
            <a:ext cx="960008" cy="171146"/>
          </a:xfrm>
          <a:prstGeom prst="roundRect">
            <a:avLst>
              <a:gd name="adj" fmla="val 5559858"/>
            </a:avLst>
          </a:prstGeom>
          <a:solidFill>
            <a:srgbClr val="FFFFFF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542925" y="4434818"/>
            <a:ext cx="914288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b="1" spc="37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 AI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1528651" y="4386263"/>
            <a:ext cx="709385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recommendation in the prototype ships with matched skills, missing skills, and written reasoning — open the Outreach tab and check it.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457200" y="4868466"/>
            <a:ext cx="7862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58" name="Text 53"/>
          <p:cNvSpPr/>
          <p:nvPr/>
        </p:nvSpPr>
        <p:spPr>
          <a:xfrm>
            <a:off x="8333519" y="4868466"/>
            <a:ext cx="49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346472"/>
            <a:ext cx="8336756" cy="182166"/>
          </a:xfrm>
          <a:prstGeom prst="roundRect">
            <a:avLst>
              <a:gd name="adj" fmla="val 522351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342900"/>
            <a:ext cx="8343900" cy="219027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5 · REFLECTION +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589359"/>
            <a:ext cx="8143875" cy="60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 learned — and where I'd take this with another week.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403622" y="1237208"/>
            <a:ext cx="4121944" cy="962174"/>
          </a:xfrm>
          <a:prstGeom prst="roundRect">
            <a:avLst>
              <a:gd name="adj" fmla="val 1088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1333649"/>
            <a:ext cx="969495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TOOLS I USED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206" y="132739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984" dirty="0"/>
          </a:p>
        </p:txBody>
      </p:sp>
      <p:sp>
        <p:nvSpPr>
          <p:cNvPr id="8" name="Text 6"/>
          <p:cNvSpPr/>
          <p:nvPr/>
        </p:nvSpPr>
        <p:spPr>
          <a:xfrm>
            <a:off x="507206" y="1456879"/>
            <a:ext cx="39147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spc="-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stack behind the stack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07206" y="1633686"/>
            <a:ext cx="3914775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Cursor + Claude for scaffolding the Next.js app and shadcn/ui components. GPT-4-class model (via z-ai-web-dev-sdk) as the fitment engine inside the prototype. I did NOT use AI to write the rubric or the bias guardrails — those came from reading about real recruiter workflows first.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18434" y="1237208"/>
            <a:ext cx="4121944" cy="962174"/>
          </a:xfrm>
          <a:prstGeom prst="roundRect">
            <a:avLst>
              <a:gd name="adj" fmla="val 1088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7750" y="1333649"/>
            <a:ext cx="923784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HELPED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22019" y="132739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4722019" y="1456879"/>
            <a:ext cx="39147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spc="-8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10x on the boring parts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4722019" y="1633686"/>
            <a:ext cx="3914775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routes, type definitions, component scaffolding — all 10x faster. It also caught edge cases (empty resumes, oversized batches). That freed my time for the parts that matter: rubric design, prompt calibration, and running a real evaluation experiment.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2292251"/>
            <a:ext cx="4121944" cy="962174"/>
          </a:xfrm>
          <a:prstGeom prst="roundRect">
            <a:avLst>
              <a:gd name="adj" fmla="val 10889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2938" y="2388691"/>
            <a:ext cx="1211134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9240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BIGGEST CHALLENGE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7206" y="238244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9240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507206" y="2511921"/>
            <a:ext cx="402450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spc="-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Calibration, not capability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507206" y="2688729"/>
            <a:ext cx="3914775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78350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first prompt gave almost everyone 75+. The fix — a calibration line — overcorrected: the eval showed 67% label agreement and 60% precision@10. The AI RANKS the right candidates at the top (ranking quality is solid) but is too conservative with Strong Fit labels. The #1 fix for v1.1 is tuning the calibration line so Strong Fit isn't too rare.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8434" y="2292251"/>
            <a:ext cx="4121944" cy="962174"/>
          </a:xfrm>
          <a:prstGeom prst="roundRect">
            <a:avLst>
              <a:gd name="adj" fmla="val 10889"/>
            </a:avLst>
          </a:prstGeom>
          <a:solidFill>
            <a:srgbClr val="ECFDF5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7750" y="2388691"/>
            <a:ext cx="641397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53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BET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22019" y="238244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4722019" y="2511921"/>
            <a:ext cx="39147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spc="-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 AI wins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4722019" y="2688729"/>
            <a:ext cx="3914775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Resume screeners are a dime a dozen. The differentiator isn't another black-box ranker — it's a ranker where every score comes with matched skills, missing skills, strengths, red flags, and a written rationale. Recruiters don't need a magic number. They need a defensible recommendation.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3622" y="3347293"/>
            <a:ext cx="8336756" cy="738597"/>
          </a:xfrm>
          <a:prstGeom prst="roundRect">
            <a:avLst>
              <a:gd name="adj" fmla="val 1418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7206" y="344194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71513" y="3429446"/>
            <a:ext cx="79652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I had another week: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206" y="367802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29" name="Text 27"/>
          <p:cNvSpPr/>
          <p:nvPr/>
        </p:nvSpPr>
        <p:spPr>
          <a:xfrm>
            <a:off x="650081" y="3625900"/>
            <a:ext cx="2509800" cy="28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Bias-audit dashboard (score distributions across demographic proxies)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45607" y="367802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84" dirty="0"/>
          </a:p>
        </p:txBody>
      </p:sp>
      <p:sp>
        <p:nvSpPr>
          <p:cNvPr id="31" name="Text 29"/>
          <p:cNvSpPr/>
          <p:nvPr/>
        </p:nvSpPr>
        <p:spPr>
          <a:xfrm>
            <a:off x="3388482" y="3676910"/>
            <a:ext cx="2509800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PDF resume parsing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4007" y="367802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33" name="Text 31"/>
          <p:cNvSpPr/>
          <p:nvPr/>
        </p:nvSpPr>
        <p:spPr>
          <a:xfrm>
            <a:off x="6126882" y="3676910"/>
            <a:ext cx="2509912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Embeddings + vector store for semantic skill matching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206" y="388832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984" dirty="0"/>
          </a:p>
        </p:txBody>
      </p:sp>
      <p:sp>
        <p:nvSpPr>
          <p:cNvPr id="35" name="Text 33"/>
          <p:cNvSpPr/>
          <p:nvPr/>
        </p:nvSpPr>
        <p:spPr>
          <a:xfrm>
            <a:off x="650081" y="3887316"/>
            <a:ext cx="2509800" cy="11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Recruiter feedback loop (overrides feed back into calibration)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45607" y="388832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84" dirty="0"/>
          </a:p>
        </p:txBody>
      </p:sp>
      <p:sp>
        <p:nvSpPr>
          <p:cNvPr id="37" name="Text 35"/>
          <p:cNvSpPr/>
          <p:nvPr/>
        </p:nvSpPr>
        <p:spPr>
          <a:xfrm>
            <a:off x="3388482" y="3887316"/>
            <a:ext cx="2509800" cy="11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Greenhouse / Lever ATS integration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84007" y="388832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984" dirty="0"/>
          </a:p>
        </p:txBody>
      </p:sp>
      <p:sp>
        <p:nvSpPr>
          <p:cNvPr id="39" name="Text 37"/>
          <p:cNvSpPr/>
          <p:nvPr/>
        </p:nvSpPr>
        <p:spPr>
          <a:xfrm>
            <a:off x="6126882" y="3887316"/>
            <a:ext cx="2509912" cy="11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Dual-pass scoring on borderline calls (60-79)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0050" y="4146612"/>
            <a:ext cx="8343900" cy="290661"/>
          </a:xfrm>
          <a:prstGeom prst="roundRect">
            <a:avLst>
              <a:gd name="adj" fmla="val 3604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00050" y="4150184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40378" y="4146612"/>
            <a:ext cx="0" cy="290661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0050" y="4433701"/>
            <a:ext cx="8343900" cy="0"/>
          </a:xfrm>
          <a:prstGeom prst="line">
            <a:avLst/>
          </a:prstGeom>
          <a:noFill/>
          <a:ln w="7144">
            <a:solidFill>
              <a:srgbClr val="A7F3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4338" y="4146612"/>
            <a:ext cx="0" cy="290661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5778" y="4209182"/>
            <a:ext cx="924290" cy="165521"/>
          </a:xfrm>
          <a:prstGeom prst="roundRect">
            <a:avLst>
              <a:gd name="adj" fmla="val 5748802"/>
            </a:avLst>
          </a:prstGeom>
          <a:solidFill>
            <a:srgbClr val="FFFFFF"/>
          </a:solidFill>
          <a:ln w="7144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8638" y="4218050"/>
            <a:ext cx="87857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800" b="1" spc="35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EXPLAINABLE AI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478645" y="4231891"/>
            <a:ext cx="715814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It's not just a feature — it's the core bet. A defensible score beats a magic number, every time.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3622" y="4483708"/>
            <a:ext cx="8336756" cy="384200"/>
          </a:xfrm>
          <a:prstGeom prst="roundRect">
            <a:avLst>
              <a:gd name="adj" fmla="val 2479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00050" y="4480136"/>
            <a:ext cx="8343900" cy="360898"/>
          </a:xfrm>
          <a:prstGeom prst="rect">
            <a:avLst/>
          </a:prstGeom>
          <a:noFill/>
          <a:ln/>
        </p:spPr>
        <p:txBody>
          <a:bodyPr wrap="square" lIns="100013" tIns="64294" rIns="100013" bIns="64294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i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</a:t>
            </a:r>
            <a:pPr algn="l" indent="0" marL="0">
              <a:lnSpc>
                <a:spcPts val="979"/>
              </a:lnSpc>
              <a:buNone/>
            </a:pPr>
            <a:r>
              <a:rPr lang="en-US" sz="800" i="1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was the most fun I've had on a take-home. The hardest part wasn't the code — it was resisting the urge to over-build. I kept asking: would a recruiter actually use this on Monday? And then I ran the evaluation to check if the answer was yes.</a:t>
            </a:r>
            <a:pPr algn="l" indent="0" marL="0">
              <a:lnSpc>
                <a:spcPts val="979"/>
              </a:lnSpc>
              <a:buNone/>
            </a:pPr>
            <a:r>
              <a:rPr lang="en-US" sz="800" i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902398"/>
            <a:ext cx="50006" cy="50006"/>
          </a:xfrm>
          <a:prstGeom prst="roundRect">
            <a:avLst>
              <a:gd name="adj" fmla="val 3809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57200" y="4868466"/>
            <a:ext cx="52889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SCREENWISE · EMBARK ASSIGNMENT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60430" y="4868466"/>
            <a:ext cx="29263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06 · THANK YOU — LOOKING FORWARD TO THE CONVERSATION.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2026-06-21T04:44:49Z</dcterms:created>
  <dcterms:modified xsi:type="dcterms:W3CDTF">2026-06-21T04:44:49Z</dcterms:modified>
</cp:coreProperties>
</file>